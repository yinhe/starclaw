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3"/>
            </p:custDataLst>
          </p:nvPr>
        </p:nvSpPr>
        <p:spPr>
          <a:xfrm>
            <a:off x="6919235" y="0"/>
            <a:ext cx="5272130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>
            <a:off x="8440615" y="0"/>
            <a:ext cx="3750750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1069642" y="688340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>
            <a:off x="1069642" y="757555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>
            <a:off x="1069642" y="826135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>
            <p:custDataLst>
              <p:tags r:id="rId8"/>
            </p:custDataLst>
          </p:nvPr>
        </p:nvSpPr>
        <p:spPr>
          <a:xfrm>
            <a:off x="6892586" y="969581"/>
            <a:ext cx="288910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椭圆 24"/>
          <p:cNvSpPr/>
          <p:nvPr>
            <p:custDataLst>
              <p:tags r:id="rId9"/>
            </p:custDataLst>
          </p:nvPr>
        </p:nvSpPr>
        <p:spPr>
          <a:xfrm>
            <a:off x="9102265" y="4021926"/>
            <a:ext cx="808313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0"/>
            </p:custDataLst>
          </p:nvPr>
        </p:nvSpPr>
        <p:spPr>
          <a:xfrm>
            <a:off x="9962631" y="0"/>
            <a:ext cx="2228734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图形 24"/>
          <p:cNvSpPr/>
          <p:nvPr>
            <p:custDataLst>
              <p:tags r:id="rId11"/>
            </p:custDataLst>
          </p:nvPr>
        </p:nvSpPr>
        <p:spPr>
          <a:xfrm>
            <a:off x="9962631" y="589915"/>
            <a:ext cx="2228734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图形 16"/>
          <p:cNvSpPr/>
          <p:nvPr>
            <p:custDataLst>
              <p:tags r:id="rId12"/>
            </p:custDataLst>
          </p:nvPr>
        </p:nvSpPr>
        <p:spPr>
          <a:xfrm>
            <a:off x="7712943" y="0"/>
            <a:ext cx="364852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1068054" y="1415134"/>
            <a:ext cx="6217553" cy="2610488"/>
          </a:xfrm>
          <a:noFill/>
        </p:spPr>
        <p:txBody>
          <a:bodyPr wrap="square" anchor="b" anchorCtr="0">
            <a:normAutofit/>
          </a:bodyPr>
          <a:lstStyle>
            <a:lvl1pPr>
              <a:defRPr lang="zh-CN" altLang="en-US" sz="6000" dirty="0">
                <a:solidFill>
                  <a:schemeClr val="tx2"/>
                </a:solidFill>
                <a:latin typeface="+mj-ea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</a:t>
            </a:r>
            <a:br>
              <a:rPr lang="en-US" altLang="zh-CN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1442051" y="523878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068053" y="4481316"/>
            <a:ext cx="287985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>
            <p:custDataLst>
              <p:tags r:id="rId3"/>
            </p:custDataLst>
          </p:nvPr>
        </p:nvSpPr>
        <p:spPr>
          <a:xfrm flipV="1">
            <a:off x="10653833" y="5436721"/>
            <a:ext cx="1537532" cy="1421279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>
            <a:gsLst>
              <a:gs pos="14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4"/>
            </p:custDataLst>
          </p:nvPr>
        </p:nvSpPr>
        <p:spPr>
          <a:xfrm>
            <a:off x="11353209" y="1026561"/>
            <a:ext cx="70180" cy="305594"/>
          </a:xfrm>
          <a:custGeom>
            <a:avLst/>
            <a:gdLst>
              <a:gd name="connsiteX0" fmla="*/ 35092 w 70184"/>
              <a:gd name="connsiteY0" fmla="*/ 235410 h 305594"/>
              <a:gd name="connsiteX1" fmla="*/ 70184 w 70184"/>
              <a:gd name="connsiteY1" fmla="*/ 270502 h 305594"/>
              <a:gd name="connsiteX2" fmla="*/ 35092 w 70184"/>
              <a:gd name="connsiteY2" fmla="*/ 305594 h 305594"/>
              <a:gd name="connsiteX3" fmla="*/ 0 w 70184"/>
              <a:gd name="connsiteY3" fmla="*/ 270502 h 305594"/>
              <a:gd name="connsiteX4" fmla="*/ 35092 w 70184"/>
              <a:gd name="connsiteY4" fmla="*/ 235410 h 305594"/>
              <a:gd name="connsiteX5" fmla="*/ 35092 w 70184"/>
              <a:gd name="connsiteY5" fmla="*/ 117705 h 305594"/>
              <a:gd name="connsiteX6" fmla="*/ 70184 w 70184"/>
              <a:gd name="connsiteY6" fmla="*/ 152797 h 305594"/>
              <a:gd name="connsiteX7" fmla="*/ 35092 w 70184"/>
              <a:gd name="connsiteY7" fmla="*/ 187889 h 305594"/>
              <a:gd name="connsiteX8" fmla="*/ 0 w 70184"/>
              <a:gd name="connsiteY8" fmla="*/ 152797 h 305594"/>
              <a:gd name="connsiteX9" fmla="*/ 35092 w 70184"/>
              <a:gd name="connsiteY9" fmla="*/ 117705 h 305594"/>
              <a:gd name="connsiteX10" fmla="*/ 35092 w 70184"/>
              <a:gd name="connsiteY10" fmla="*/ 0 h 305594"/>
              <a:gd name="connsiteX11" fmla="*/ 70184 w 70184"/>
              <a:gd name="connsiteY11" fmla="*/ 35092 h 305594"/>
              <a:gd name="connsiteX12" fmla="*/ 35092 w 70184"/>
              <a:gd name="connsiteY12" fmla="*/ 70184 h 305594"/>
              <a:gd name="connsiteX13" fmla="*/ 0 w 70184"/>
              <a:gd name="connsiteY13" fmla="*/ 35092 h 305594"/>
              <a:gd name="connsiteX14" fmla="*/ 35092 w 70184"/>
              <a:gd name="connsiteY14" fmla="*/ 0 h 305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0184" h="305594">
                <a:moveTo>
                  <a:pt x="35092" y="235410"/>
                </a:moveTo>
                <a:cubicBezTo>
                  <a:pt x="54473" y="235410"/>
                  <a:pt x="70184" y="251121"/>
                  <a:pt x="70184" y="270502"/>
                </a:cubicBezTo>
                <a:cubicBezTo>
                  <a:pt x="70184" y="289883"/>
                  <a:pt x="54473" y="305594"/>
                  <a:pt x="35092" y="305594"/>
                </a:cubicBezTo>
                <a:cubicBezTo>
                  <a:pt x="15711" y="305594"/>
                  <a:pt x="0" y="289883"/>
                  <a:pt x="0" y="270502"/>
                </a:cubicBezTo>
                <a:cubicBezTo>
                  <a:pt x="0" y="251121"/>
                  <a:pt x="15711" y="235410"/>
                  <a:pt x="35092" y="235410"/>
                </a:cubicBezTo>
                <a:close/>
                <a:moveTo>
                  <a:pt x="35092" y="117705"/>
                </a:moveTo>
                <a:cubicBezTo>
                  <a:pt x="54473" y="117705"/>
                  <a:pt x="70184" y="133416"/>
                  <a:pt x="70184" y="152797"/>
                </a:cubicBezTo>
                <a:cubicBezTo>
                  <a:pt x="70184" y="172178"/>
                  <a:pt x="54473" y="187889"/>
                  <a:pt x="35092" y="187889"/>
                </a:cubicBezTo>
                <a:cubicBezTo>
                  <a:pt x="15711" y="187889"/>
                  <a:pt x="0" y="172178"/>
                  <a:pt x="0" y="152797"/>
                </a:cubicBezTo>
                <a:cubicBezTo>
                  <a:pt x="0" y="133416"/>
                  <a:pt x="15711" y="117705"/>
                  <a:pt x="35092" y="117705"/>
                </a:cubicBezTo>
                <a:close/>
                <a:moveTo>
                  <a:pt x="35092" y="0"/>
                </a:moveTo>
                <a:cubicBezTo>
                  <a:pt x="54473" y="0"/>
                  <a:pt x="70184" y="15711"/>
                  <a:pt x="70184" y="35092"/>
                </a:cubicBezTo>
                <a:cubicBezTo>
                  <a:pt x="70184" y="54473"/>
                  <a:pt x="54473" y="70184"/>
                  <a:pt x="35092" y="70184"/>
                </a:cubicBezTo>
                <a:cubicBezTo>
                  <a:pt x="15711" y="70184"/>
                  <a:pt x="0" y="54473"/>
                  <a:pt x="0" y="35092"/>
                </a:cubicBezTo>
                <a:cubicBezTo>
                  <a:pt x="0" y="15711"/>
                  <a:pt x="15711" y="0"/>
                  <a:pt x="350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图形 12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2095390" cy="2260811"/>
          </a:xfrm>
          <a:custGeom>
            <a:avLst/>
            <a:gdLst>
              <a:gd name="connsiteX0" fmla="*/ 2815 w 1616032"/>
              <a:gd name="connsiteY0" fmla="*/ 0 h 1743519"/>
              <a:gd name="connsiteX1" fmla="*/ 641847 w 1616032"/>
              <a:gd name="connsiteY1" fmla="*/ 0 h 1743519"/>
              <a:gd name="connsiteX2" fmla="*/ 637180 w 1616032"/>
              <a:gd name="connsiteY2" fmla="*/ 93917 h 1743519"/>
              <a:gd name="connsiteX3" fmla="*/ 1392513 w 1616032"/>
              <a:gd name="connsiteY3" fmla="*/ 1121474 h 1743519"/>
              <a:gd name="connsiteX4" fmla="*/ 1601491 w 1616032"/>
              <a:gd name="connsiteY4" fmla="*/ 1520000 h 1743519"/>
              <a:gd name="connsiteX5" fmla="*/ 1202965 w 1616032"/>
              <a:gd name="connsiteY5" fmla="*/ 1728978 h 1743519"/>
              <a:gd name="connsiteX6" fmla="*/ 196744 w 1616032"/>
              <a:gd name="connsiteY6" fmla="*/ 889826 h 1743519"/>
              <a:gd name="connsiteX7" fmla="*/ 53 w 1616032"/>
              <a:gd name="connsiteY7" fmla="*/ 82868 h 1743519"/>
              <a:gd name="connsiteX8" fmla="*/ 2815 w 1616032"/>
              <a:gd name="connsiteY8" fmla="*/ 0 h 1743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6032" h="1743519">
                <a:moveTo>
                  <a:pt x="2815" y="0"/>
                </a:moveTo>
                <a:lnTo>
                  <a:pt x="641847" y="0"/>
                </a:lnTo>
                <a:cubicBezTo>
                  <a:pt x="641847" y="0"/>
                  <a:pt x="637180" y="93917"/>
                  <a:pt x="637180" y="93917"/>
                </a:cubicBezTo>
                <a:cubicBezTo>
                  <a:pt x="637085" y="552164"/>
                  <a:pt x="932550" y="978027"/>
                  <a:pt x="1392513" y="1121474"/>
                </a:cubicBezTo>
                <a:cubicBezTo>
                  <a:pt x="1560248" y="1173766"/>
                  <a:pt x="1653879" y="1352264"/>
                  <a:pt x="1601491" y="1520000"/>
                </a:cubicBezTo>
                <a:cubicBezTo>
                  <a:pt x="1549199" y="1687735"/>
                  <a:pt x="1370700" y="1781366"/>
                  <a:pt x="1202965" y="1728978"/>
                </a:cubicBezTo>
                <a:cubicBezTo>
                  <a:pt x="766434" y="1592866"/>
                  <a:pt x="409151" y="1294829"/>
                  <a:pt x="196744" y="889826"/>
                </a:cubicBezTo>
                <a:cubicBezTo>
                  <a:pt x="63965" y="636746"/>
                  <a:pt x="-2138" y="360807"/>
                  <a:pt x="53" y="82868"/>
                </a:cubicBezTo>
                <a:lnTo>
                  <a:pt x="2815" y="0"/>
                </a:lnTo>
                <a:close/>
              </a:path>
            </a:pathLst>
          </a:cu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: 形状 3"/>
          <p:cNvSpPr/>
          <p:nvPr>
            <p:custDataLst>
              <p:tags r:id="rId6"/>
            </p:custDataLst>
          </p:nvPr>
        </p:nvSpPr>
        <p:spPr>
          <a:xfrm flipH="1">
            <a:off x="1" y="331978"/>
            <a:ext cx="767010" cy="815541"/>
          </a:xfrm>
          <a:custGeom>
            <a:avLst/>
            <a:gdLst>
              <a:gd name="connsiteX0" fmla="*/ 266085 w 960878"/>
              <a:gd name="connsiteY0" fmla="*/ 601 h 1021622"/>
              <a:gd name="connsiteX1" fmla="*/ 124392 w 960878"/>
              <a:gd name="connsiteY1" fmla="*/ 33408 h 1021622"/>
              <a:gd name="connsiteX2" fmla="*/ 33363 w 960878"/>
              <a:gd name="connsiteY2" fmla="*/ 373190 h 1021622"/>
              <a:gd name="connsiteX3" fmla="*/ 846063 w 960878"/>
              <a:gd name="connsiteY3" fmla="*/ 996773 h 1021622"/>
              <a:gd name="connsiteX4" fmla="*/ 960878 w 960878"/>
              <a:gd name="connsiteY4" fmla="*/ 1021622 h 1021622"/>
              <a:gd name="connsiteX5" fmla="*/ 960878 w 960878"/>
              <a:gd name="connsiteY5" fmla="*/ 510304 h 1021622"/>
              <a:gd name="connsiteX6" fmla="*/ 860484 w 960878"/>
              <a:gd name="connsiteY6" fmla="*/ 476220 h 1021622"/>
              <a:gd name="connsiteX7" fmla="*/ 464256 w 960878"/>
              <a:gd name="connsiteY7" fmla="*/ 124437 h 1021622"/>
              <a:gd name="connsiteX8" fmla="*/ 266085 w 960878"/>
              <a:gd name="connsiteY8" fmla="*/ 601 h 102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0878" h="1021622">
                <a:moveTo>
                  <a:pt x="266085" y="601"/>
                </a:moveTo>
                <a:cubicBezTo>
                  <a:pt x="218244" y="-2721"/>
                  <a:pt x="168993" y="7661"/>
                  <a:pt x="124392" y="33408"/>
                </a:cubicBezTo>
                <a:cubicBezTo>
                  <a:pt x="5456" y="102096"/>
                  <a:pt x="-35325" y="254254"/>
                  <a:pt x="33363" y="373190"/>
                </a:cubicBezTo>
                <a:cubicBezTo>
                  <a:pt x="212099" y="682822"/>
                  <a:pt x="500718" y="904248"/>
                  <a:pt x="846063" y="996773"/>
                </a:cubicBezTo>
                <a:lnTo>
                  <a:pt x="960878" y="1021622"/>
                </a:lnTo>
                <a:lnTo>
                  <a:pt x="960878" y="510304"/>
                </a:lnTo>
                <a:lnTo>
                  <a:pt x="860484" y="476220"/>
                </a:lnTo>
                <a:cubicBezTo>
                  <a:pt x="699387" y="407201"/>
                  <a:pt x="558441" y="287559"/>
                  <a:pt x="464256" y="124437"/>
                </a:cubicBezTo>
                <a:cubicBezTo>
                  <a:pt x="421317" y="50019"/>
                  <a:pt x="345735" y="6249"/>
                  <a:pt x="266085" y="60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椭圆 14"/>
          <p:cNvSpPr/>
          <p:nvPr>
            <p:custDataLst>
              <p:tags r:id="rId7"/>
            </p:custDataLst>
          </p:nvPr>
        </p:nvSpPr>
        <p:spPr>
          <a:xfrm>
            <a:off x="102865" y="140335"/>
            <a:ext cx="171441" cy="171450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椭圆 15"/>
          <p:cNvSpPr/>
          <p:nvPr>
            <p:custDataLst>
              <p:tags r:id="rId8"/>
            </p:custDataLst>
          </p:nvPr>
        </p:nvSpPr>
        <p:spPr>
          <a:xfrm>
            <a:off x="1499765" y="1269396"/>
            <a:ext cx="546669" cy="546697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9283216" y="547696"/>
            <a:ext cx="1814423" cy="1263324"/>
          </a:xfrm>
          <a:noFill/>
        </p:spPr>
        <p:txBody>
          <a:bodyPr vert="horz" wrap="square" rtlCol="0" anchor="ctr" anchorCtr="0">
            <a:normAutofit/>
          </a:bodyPr>
          <a:lstStyle>
            <a:lvl1pPr algn="ctr">
              <a:defRPr lang="zh-CN" altLang="en-US" sz="6000" dirty="0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62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pPr marL="0" lvl="0" algn="r"/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形 23"/>
          <p:cNvSpPr/>
          <p:nvPr>
            <p:custDataLst>
              <p:tags r:id="rId3"/>
            </p:custDataLst>
          </p:nvPr>
        </p:nvSpPr>
        <p:spPr>
          <a:xfrm>
            <a:off x="1068459" y="803142"/>
            <a:ext cx="4201909" cy="4488048"/>
          </a:xfrm>
          <a:custGeom>
            <a:avLst/>
            <a:gdLst>
              <a:gd name="connsiteX0" fmla="*/ 585922 w 3326429"/>
              <a:gd name="connsiteY0" fmla="*/ 283866 h 3552767"/>
              <a:gd name="connsiteX1" fmla="*/ 3042610 w 3326429"/>
              <a:gd name="connsiteY1" fmla="*/ 812123 h 3552767"/>
              <a:gd name="connsiteX2" fmla="*/ 2514258 w 3326429"/>
              <a:gd name="connsiteY2" fmla="*/ 3268906 h 3552767"/>
              <a:gd name="connsiteX3" fmla="*/ 57475 w 3326429"/>
              <a:gd name="connsiteY3" fmla="*/ 2740554 h 3552767"/>
              <a:gd name="connsiteX4" fmla="*/ 164250 w 3326429"/>
              <a:gd name="connsiteY4" fmla="*/ 2244302 h 3552767"/>
              <a:gd name="connsiteX5" fmla="*/ 660503 w 3326429"/>
              <a:gd name="connsiteY5" fmla="*/ 2351077 h 3552767"/>
              <a:gd name="connsiteX6" fmla="*/ 2124686 w 3326429"/>
              <a:gd name="connsiteY6" fmla="*/ 2665974 h 3552767"/>
              <a:gd name="connsiteX7" fmla="*/ 2439582 w 3326429"/>
              <a:gd name="connsiteY7" fmla="*/ 1201790 h 3552767"/>
              <a:gd name="connsiteX8" fmla="*/ 975399 w 3326429"/>
              <a:gd name="connsiteY8" fmla="*/ 886894 h 3552767"/>
              <a:gd name="connsiteX9" fmla="*/ 479147 w 3326429"/>
              <a:gd name="connsiteY9" fmla="*/ 780119 h 3552767"/>
              <a:gd name="connsiteX10" fmla="*/ 585922 w 3326429"/>
              <a:gd name="connsiteY10" fmla="*/ 283866 h 3552767"/>
              <a:gd name="connsiteX11" fmla="*/ 585922 w 3326429"/>
              <a:gd name="connsiteY11" fmla="*/ 283866 h 3552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26429" h="3552767">
                <a:moveTo>
                  <a:pt x="585922" y="283866"/>
                </a:moveTo>
                <a:cubicBezTo>
                  <a:pt x="1408977" y="-247819"/>
                  <a:pt x="2511020" y="-10742"/>
                  <a:pt x="3042610" y="812123"/>
                </a:cubicBezTo>
                <a:cubicBezTo>
                  <a:pt x="3574200" y="1634987"/>
                  <a:pt x="3337218" y="2737220"/>
                  <a:pt x="2514258" y="3268906"/>
                </a:cubicBezTo>
                <a:cubicBezTo>
                  <a:pt x="1691203" y="3800592"/>
                  <a:pt x="589160" y="3563514"/>
                  <a:pt x="57475" y="2740554"/>
                </a:cubicBezTo>
                <a:cubicBezTo>
                  <a:pt x="-50062" y="2574057"/>
                  <a:pt x="-2342" y="2351839"/>
                  <a:pt x="164250" y="2244302"/>
                </a:cubicBezTo>
                <a:cubicBezTo>
                  <a:pt x="330747" y="2136764"/>
                  <a:pt x="552965" y="2184485"/>
                  <a:pt x="660503" y="2351077"/>
                </a:cubicBezTo>
                <a:cubicBezTo>
                  <a:pt x="977304" y="2841519"/>
                  <a:pt x="1634148" y="2982870"/>
                  <a:pt x="2124686" y="2665974"/>
                </a:cubicBezTo>
                <a:cubicBezTo>
                  <a:pt x="2615223" y="2349077"/>
                  <a:pt x="2756479" y="1692328"/>
                  <a:pt x="2439582" y="1201790"/>
                </a:cubicBezTo>
                <a:cubicBezTo>
                  <a:pt x="2122686" y="711253"/>
                  <a:pt x="1465937" y="569997"/>
                  <a:pt x="975399" y="886894"/>
                </a:cubicBezTo>
                <a:cubicBezTo>
                  <a:pt x="808902" y="994431"/>
                  <a:pt x="586684" y="946711"/>
                  <a:pt x="479147" y="780119"/>
                </a:cubicBezTo>
                <a:cubicBezTo>
                  <a:pt x="371609" y="613622"/>
                  <a:pt x="419330" y="391403"/>
                  <a:pt x="585922" y="283866"/>
                </a:cubicBezTo>
                <a:lnTo>
                  <a:pt x="585922" y="28386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8469209" y="2639425"/>
            <a:ext cx="2477641" cy="334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图形 13"/>
          <p:cNvSpPr/>
          <p:nvPr>
            <p:custDataLst>
              <p:tags r:id="rId5"/>
            </p:custDataLst>
          </p:nvPr>
        </p:nvSpPr>
        <p:spPr>
          <a:xfrm>
            <a:off x="1311974" y="1331347"/>
            <a:ext cx="3352083" cy="3352256"/>
          </a:xfrm>
          <a:custGeom>
            <a:avLst/>
            <a:gdLst>
              <a:gd name="connsiteX0" fmla="*/ 1509808 w 3019615"/>
              <a:gd name="connsiteY0" fmla="*/ 3019520 h 3019615"/>
              <a:gd name="connsiteX1" fmla="*/ 0 w 3019615"/>
              <a:gd name="connsiteY1" fmla="*/ 1509808 h 3019615"/>
              <a:gd name="connsiteX2" fmla="*/ 1509808 w 3019615"/>
              <a:gd name="connsiteY2" fmla="*/ 0 h 3019615"/>
              <a:gd name="connsiteX3" fmla="*/ 3019616 w 3019615"/>
              <a:gd name="connsiteY3" fmla="*/ 1509808 h 3019615"/>
              <a:gd name="connsiteX4" fmla="*/ 2638616 w 3019615"/>
              <a:gd name="connsiteY4" fmla="*/ 1890808 h 3019615"/>
              <a:gd name="connsiteX5" fmla="*/ 2257616 w 3019615"/>
              <a:gd name="connsiteY5" fmla="*/ 1509808 h 3019615"/>
              <a:gd name="connsiteX6" fmla="*/ 1509808 w 3019615"/>
              <a:gd name="connsiteY6" fmla="*/ 762000 h 3019615"/>
              <a:gd name="connsiteX7" fmla="*/ 762000 w 3019615"/>
              <a:gd name="connsiteY7" fmla="*/ 1509808 h 3019615"/>
              <a:gd name="connsiteX8" fmla="*/ 1509808 w 3019615"/>
              <a:gd name="connsiteY8" fmla="*/ 2257616 h 3019615"/>
              <a:gd name="connsiteX9" fmla="*/ 1890808 w 3019615"/>
              <a:gd name="connsiteY9" fmla="*/ 2638616 h 3019615"/>
              <a:gd name="connsiteX10" fmla="*/ 1509808 w 3019615"/>
              <a:gd name="connsiteY10" fmla="*/ 3019616 h 301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9615" h="3019615">
                <a:moveTo>
                  <a:pt x="1509808" y="3019520"/>
                </a:moveTo>
                <a:cubicBezTo>
                  <a:pt x="677323" y="3019520"/>
                  <a:pt x="0" y="2342293"/>
                  <a:pt x="0" y="1509808"/>
                </a:cubicBezTo>
                <a:cubicBezTo>
                  <a:pt x="0" y="677323"/>
                  <a:pt x="677323" y="0"/>
                  <a:pt x="1509808" y="0"/>
                </a:cubicBezTo>
                <a:cubicBezTo>
                  <a:pt x="2342293" y="0"/>
                  <a:pt x="3019616" y="677323"/>
                  <a:pt x="3019616" y="1509808"/>
                </a:cubicBezTo>
                <a:cubicBezTo>
                  <a:pt x="3019616" y="1720215"/>
                  <a:pt x="2849023" y="1890808"/>
                  <a:pt x="2638616" y="1890808"/>
                </a:cubicBezTo>
                <a:cubicBezTo>
                  <a:pt x="2428208" y="1890808"/>
                  <a:pt x="2257616" y="1720215"/>
                  <a:pt x="2257616" y="1509808"/>
                </a:cubicBezTo>
                <a:cubicBezTo>
                  <a:pt x="2257616" y="1097471"/>
                  <a:pt x="1922145" y="762000"/>
                  <a:pt x="1509808" y="762000"/>
                </a:cubicBezTo>
                <a:cubicBezTo>
                  <a:pt x="1097471" y="762000"/>
                  <a:pt x="762000" y="1097471"/>
                  <a:pt x="762000" y="1509808"/>
                </a:cubicBezTo>
                <a:cubicBezTo>
                  <a:pt x="762000" y="1922145"/>
                  <a:pt x="1097471" y="2257616"/>
                  <a:pt x="1509808" y="2257616"/>
                </a:cubicBezTo>
                <a:cubicBezTo>
                  <a:pt x="1720215" y="2257616"/>
                  <a:pt x="1890808" y="2428208"/>
                  <a:pt x="1890808" y="2638616"/>
                </a:cubicBezTo>
                <a:cubicBezTo>
                  <a:pt x="1890808" y="2849023"/>
                  <a:pt x="1720215" y="3019616"/>
                  <a:pt x="1509808" y="301961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0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1777387" y="2356902"/>
            <a:ext cx="0" cy="2871449"/>
          </a:xfrm>
          <a:prstGeom prst="line">
            <a:avLst/>
          </a:prstGeom>
          <a:ln>
            <a:solidFill>
              <a:schemeClr val="accent1"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>
            <p:custDataLst>
              <p:tags r:id="rId7"/>
            </p:custDataLst>
          </p:nvPr>
        </p:nvSpPr>
        <p:spPr>
          <a:xfrm>
            <a:off x="2619985" y="2639425"/>
            <a:ext cx="736062" cy="736100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4745006" y="3924161"/>
            <a:ext cx="444413" cy="444436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任意多边形: 形状 15"/>
          <p:cNvSpPr/>
          <p:nvPr>
            <p:custDataLst>
              <p:tags r:id="rId9"/>
            </p:custDataLst>
          </p:nvPr>
        </p:nvSpPr>
        <p:spPr>
          <a:xfrm flipH="1" flipV="1">
            <a:off x="0" y="0"/>
            <a:ext cx="1259139" cy="833120"/>
          </a:xfrm>
          <a:custGeom>
            <a:avLst/>
            <a:gdLst>
              <a:gd name="connsiteX0" fmla="*/ 1259430 w 1259430"/>
              <a:gd name="connsiteY0" fmla="*/ 833045 h 833045"/>
              <a:gd name="connsiteX1" fmla="*/ 0 w 1259430"/>
              <a:gd name="connsiteY1" fmla="*/ 833045 h 833045"/>
              <a:gd name="connsiteX2" fmla="*/ 10126 w 1259430"/>
              <a:gd name="connsiteY2" fmla="*/ 819504 h 833045"/>
              <a:gd name="connsiteX3" fmla="*/ 1126137 w 1259430"/>
              <a:gd name="connsiteY3" fmla="*/ 38726 h 833045"/>
              <a:gd name="connsiteX4" fmla="*/ 1259430 w 1259430"/>
              <a:gd name="connsiteY4" fmla="*/ 0 h 83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9430" h="833045">
                <a:moveTo>
                  <a:pt x="1259430" y="833045"/>
                </a:moveTo>
                <a:lnTo>
                  <a:pt x="0" y="833045"/>
                </a:lnTo>
                <a:lnTo>
                  <a:pt x="10126" y="819504"/>
                </a:lnTo>
                <a:cubicBezTo>
                  <a:pt x="301323" y="466655"/>
                  <a:pt x="685952" y="193770"/>
                  <a:pt x="1126137" y="38726"/>
                </a:cubicBezTo>
                <a:lnTo>
                  <a:pt x="125943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0"/>
            </p:custDataLst>
          </p:nvPr>
        </p:nvSpPr>
        <p:spPr>
          <a:xfrm>
            <a:off x="1482430" y="4643034"/>
            <a:ext cx="217655" cy="217664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1"/>
            </p:custDataLst>
          </p:nvPr>
        </p:nvCxnSpPr>
        <p:spPr>
          <a:xfrm>
            <a:off x="1069642" y="688340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>
            <a:off x="1069642" y="757555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>
            <p:custDataLst>
              <p:tags r:id="rId13"/>
            </p:custDataLst>
          </p:nvPr>
        </p:nvCxnSpPr>
        <p:spPr>
          <a:xfrm>
            <a:off x="1069642" y="826135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513883" y="3048024"/>
            <a:ext cx="5412176" cy="1759920"/>
          </a:xfrm>
        </p:spPr>
        <p:txBody>
          <a:bodyPr wrap="square" anchor="b">
            <a:normAutofit/>
          </a:bodyPr>
          <a:lstStyle>
            <a:lvl1pPr algn="r"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575207" y="966615"/>
            <a:ext cx="4350853" cy="206270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8000" b="1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40000">
                      <a:schemeClr val="accent1"/>
                    </a:gs>
                  </a:gsLst>
                  <a:lin ang="2700000" scaled="1"/>
                  <a:tileRect/>
                </a:gra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 flipV="1">
            <a:off x="10732545" y="5509481"/>
            <a:ext cx="1458819" cy="1348518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72000">
                <a:schemeClr val="accent1">
                  <a:lumMod val="20000"/>
                  <a:lumOff val="80000"/>
                  <a:alpha val="0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任意多边形: 形状 6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5272130" cy="48736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3750750" cy="3641725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 flipH="1">
            <a:off x="4859170" y="917634"/>
            <a:ext cx="288910" cy="288925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 flipH="1">
            <a:off x="0" y="0"/>
            <a:ext cx="2228734" cy="2164080"/>
          </a:xfrm>
          <a:custGeom>
            <a:avLst/>
            <a:gdLst>
              <a:gd name="connsiteX0" fmla="*/ 0 w 5045967"/>
              <a:gd name="connsiteY0" fmla="*/ 0 h 5048938"/>
              <a:gd name="connsiteX1" fmla="*/ 5045967 w 5045967"/>
              <a:gd name="connsiteY1" fmla="*/ 0 h 5048938"/>
              <a:gd name="connsiteX2" fmla="*/ 5045967 w 5045967"/>
              <a:gd name="connsiteY2" fmla="*/ 5048938 h 5048938"/>
              <a:gd name="connsiteX3" fmla="*/ 4808055 w 5045967"/>
              <a:gd name="connsiteY3" fmla="*/ 5042922 h 5048938"/>
              <a:gd name="connsiteX4" fmla="*/ 6093 w 5045967"/>
              <a:gd name="connsiteY4" fmla="*/ 240959 h 5048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5967" h="5048938">
                <a:moveTo>
                  <a:pt x="0" y="0"/>
                </a:moveTo>
                <a:lnTo>
                  <a:pt x="5045967" y="0"/>
                </a:lnTo>
                <a:lnTo>
                  <a:pt x="5045967" y="5048938"/>
                </a:lnTo>
                <a:lnTo>
                  <a:pt x="4808055" y="5042922"/>
                </a:lnTo>
                <a:cubicBezTo>
                  <a:pt x="2215925" y="4911527"/>
                  <a:pt x="137488" y="2833089"/>
                  <a:pt x="6093" y="24095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6" name="图形 24"/>
          <p:cNvSpPr/>
          <p:nvPr>
            <p:custDataLst>
              <p:tags r:id="rId8"/>
            </p:custDataLst>
          </p:nvPr>
        </p:nvSpPr>
        <p:spPr>
          <a:xfrm flipH="1">
            <a:off x="0" y="589915"/>
            <a:ext cx="2228734" cy="1643380"/>
          </a:xfrm>
          <a:custGeom>
            <a:avLst/>
            <a:gdLst>
              <a:gd name="connsiteX0" fmla="*/ 305151 w 1622268"/>
              <a:gd name="connsiteY0" fmla="*/ 689 h 1196098"/>
              <a:gd name="connsiteX1" fmla="*/ 532418 w 1622268"/>
              <a:gd name="connsiteY1" fmla="*/ 142707 h 1196098"/>
              <a:gd name="connsiteX2" fmla="*/ 1579882 w 1622268"/>
              <a:gd name="connsiteY2" fmla="*/ 601241 h 1196098"/>
              <a:gd name="connsiteX3" fmla="*/ 1622269 w 1622268"/>
              <a:gd name="connsiteY3" fmla="*/ 589430 h 1196098"/>
              <a:gd name="connsiteX4" fmla="*/ 1622269 w 1622268"/>
              <a:gd name="connsiteY4" fmla="*/ 1173217 h 1196098"/>
              <a:gd name="connsiteX5" fmla="*/ 1567976 w 1622268"/>
              <a:gd name="connsiteY5" fmla="*/ 1183123 h 1196098"/>
              <a:gd name="connsiteX6" fmla="*/ 970282 w 1622268"/>
              <a:gd name="connsiteY6" fmla="*/ 1143118 h 1196098"/>
              <a:gd name="connsiteX7" fmla="*/ 38261 w 1622268"/>
              <a:gd name="connsiteY7" fmla="*/ 427981 h 1196098"/>
              <a:gd name="connsiteX8" fmla="*/ 142655 w 1622268"/>
              <a:gd name="connsiteY8" fmla="*/ 38313 h 1196098"/>
              <a:gd name="connsiteX9" fmla="*/ 305151 w 1622268"/>
              <a:gd name="connsiteY9" fmla="*/ 689 h 1196098"/>
              <a:gd name="connsiteX10" fmla="*/ 305151 w 1622268"/>
              <a:gd name="connsiteY10" fmla="*/ 689 h 1196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2268" h="1196098">
                <a:moveTo>
                  <a:pt x="305151" y="689"/>
                </a:moveTo>
                <a:cubicBezTo>
                  <a:pt x="396496" y="7166"/>
                  <a:pt x="483174" y="57363"/>
                  <a:pt x="532418" y="142707"/>
                </a:cubicBezTo>
                <a:cubicBezTo>
                  <a:pt x="748445" y="516849"/>
                  <a:pt x="1178975" y="691538"/>
                  <a:pt x="1579882" y="601241"/>
                </a:cubicBezTo>
                <a:lnTo>
                  <a:pt x="1622269" y="589430"/>
                </a:lnTo>
                <a:lnTo>
                  <a:pt x="1622269" y="1173217"/>
                </a:lnTo>
                <a:cubicBezTo>
                  <a:pt x="1622269" y="1173217"/>
                  <a:pt x="1567976" y="1183123"/>
                  <a:pt x="1567976" y="1183123"/>
                </a:cubicBezTo>
                <a:cubicBezTo>
                  <a:pt x="1370713" y="1209126"/>
                  <a:pt x="1168307" y="1196172"/>
                  <a:pt x="970282" y="1143118"/>
                </a:cubicBezTo>
                <a:cubicBezTo>
                  <a:pt x="574233" y="1037009"/>
                  <a:pt x="243239" y="783073"/>
                  <a:pt x="38261" y="427981"/>
                </a:cubicBezTo>
                <a:cubicBezTo>
                  <a:pt x="-40511" y="291583"/>
                  <a:pt x="6257" y="117085"/>
                  <a:pt x="142655" y="38313"/>
                </a:cubicBezTo>
                <a:cubicBezTo>
                  <a:pt x="193804" y="8786"/>
                  <a:pt x="250287" y="-3121"/>
                  <a:pt x="305151" y="689"/>
                </a:cubicBezTo>
                <a:lnTo>
                  <a:pt x="305151" y="68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图形 16"/>
          <p:cNvSpPr/>
          <p:nvPr>
            <p:custDataLst>
              <p:tags r:id="rId9"/>
            </p:custDataLst>
          </p:nvPr>
        </p:nvSpPr>
        <p:spPr>
          <a:xfrm flipH="1">
            <a:off x="829902" y="0"/>
            <a:ext cx="3648520" cy="3936365"/>
          </a:xfrm>
          <a:custGeom>
            <a:avLst/>
            <a:gdLst>
              <a:gd name="connsiteX0" fmla="*/ 4671 w 2738556"/>
              <a:gd name="connsiteY0" fmla="*/ 0 h 2954675"/>
              <a:gd name="connsiteX1" fmla="*/ 1087663 w 2738556"/>
              <a:gd name="connsiteY1" fmla="*/ 0 h 2954675"/>
              <a:gd name="connsiteX2" fmla="*/ 1079662 w 2738556"/>
              <a:gd name="connsiteY2" fmla="*/ 159068 h 2954675"/>
              <a:gd name="connsiteX3" fmla="*/ 2359727 w 2738556"/>
              <a:gd name="connsiteY3" fmla="*/ 1900523 h 2954675"/>
              <a:gd name="connsiteX4" fmla="*/ 2713962 w 2738556"/>
              <a:gd name="connsiteY4" fmla="*/ 2575846 h 2954675"/>
              <a:gd name="connsiteX5" fmla="*/ 2038639 w 2738556"/>
              <a:gd name="connsiteY5" fmla="*/ 2930081 h 2954675"/>
              <a:gd name="connsiteX6" fmla="*/ 333378 w 2738556"/>
              <a:gd name="connsiteY6" fmla="*/ 1507998 h 2954675"/>
              <a:gd name="connsiteX7" fmla="*/ 99 w 2738556"/>
              <a:gd name="connsiteY7" fmla="*/ 140399 h 2954675"/>
              <a:gd name="connsiteX8" fmla="*/ 4671 w 2738556"/>
              <a:gd name="connsiteY8" fmla="*/ 0 h 295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8556" h="2954675">
                <a:moveTo>
                  <a:pt x="4671" y="0"/>
                </a:moveTo>
                <a:lnTo>
                  <a:pt x="1087663" y="0"/>
                </a:lnTo>
                <a:cubicBezTo>
                  <a:pt x="1087663" y="0"/>
                  <a:pt x="1079662" y="159068"/>
                  <a:pt x="1079662" y="159068"/>
                </a:cubicBezTo>
                <a:cubicBezTo>
                  <a:pt x="1079472" y="935736"/>
                  <a:pt x="1580201" y="1657350"/>
                  <a:pt x="2359727" y="1900523"/>
                </a:cubicBezTo>
                <a:cubicBezTo>
                  <a:pt x="2643953" y="1989201"/>
                  <a:pt x="2802639" y="2291620"/>
                  <a:pt x="2713962" y="2575846"/>
                </a:cubicBezTo>
                <a:cubicBezTo>
                  <a:pt x="2625284" y="2860072"/>
                  <a:pt x="2322865" y="3018758"/>
                  <a:pt x="2038639" y="2930081"/>
                </a:cubicBezTo>
                <a:cubicBezTo>
                  <a:pt x="1298928" y="2699290"/>
                  <a:pt x="693328" y="2194274"/>
                  <a:pt x="333378" y="1507998"/>
                </a:cubicBezTo>
                <a:cubicBezTo>
                  <a:pt x="108398" y="1079087"/>
                  <a:pt x="-3807" y="611410"/>
                  <a:pt x="99" y="140399"/>
                </a:cubicBezTo>
                <a:lnTo>
                  <a:pt x="4671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0"/>
            </p:custDataLst>
          </p:nvPr>
        </p:nvCxnSpPr>
        <p:spPr>
          <a:xfrm>
            <a:off x="10929682" y="688340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1"/>
            </p:custDataLst>
          </p:nvPr>
        </p:nvCxnSpPr>
        <p:spPr>
          <a:xfrm>
            <a:off x="10929682" y="757555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2"/>
            </p:custDataLst>
          </p:nvPr>
        </p:nvCxnSpPr>
        <p:spPr>
          <a:xfrm>
            <a:off x="10929682" y="826135"/>
            <a:ext cx="191760" cy="0"/>
          </a:xfrm>
          <a:prstGeom prst="line">
            <a:avLst/>
          </a:prstGeom>
          <a:ln w="28575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13"/>
            </p:custDataLst>
          </p:nvPr>
        </p:nvSpPr>
        <p:spPr>
          <a:xfrm flipH="1">
            <a:off x="1401372" y="4279089"/>
            <a:ext cx="808313" cy="808355"/>
          </a:xfrm>
          <a:prstGeom prst="ellipse">
            <a:avLst/>
          </a:prstGeom>
          <a:gradFill flip="none" rotWithShape="1">
            <a:gsLst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254000" dist="254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17"/>
            </p:custDataLst>
          </p:nvPr>
        </p:nvSpPr>
        <p:spPr>
          <a:xfrm>
            <a:off x="2351564" y="2487519"/>
            <a:ext cx="8809565" cy="1222785"/>
          </a:xfrm>
        </p:spPr>
        <p:txBody>
          <a:bodyPr wrap="square" anchor="b" anchorCtr="0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7860887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0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>
            <a:off x="8284024" y="4085899"/>
            <a:ext cx="287985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>
            <p:custDataLst>
              <p:tags r:id="rId13"/>
            </p:custDataLst>
          </p:nvPr>
        </p:nvSpPr>
        <p:spPr>
          <a:xfrm>
            <a:off x="10286465" y="450850"/>
            <a:ext cx="1219137" cy="711200"/>
          </a:xfrm>
          <a:custGeom>
            <a:avLst/>
            <a:gdLst>
              <a:gd name="connsiteX0" fmla="*/ 0 w 1219200"/>
              <a:gd name="connsiteY0" fmla="*/ 0 h 711200"/>
              <a:gd name="connsiteX1" fmla="*/ 1219200 w 1219200"/>
              <a:gd name="connsiteY1" fmla="*/ 165100 h 711200"/>
              <a:gd name="connsiteX2" fmla="*/ 488950 w 1219200"/>
              <a:gd name="connsiteY2" fmla="*/ 711200 h 711200"/>
              <a:gd name="connsiteX3" fmla="*/ 0 w 1219200"/>
              <a:gd name="connsiteY3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" h="711200">
                <a:moveTo>
                  <a:pt x="0" y="0"/>
                </a:moveTo>
                <a:lnTo>
                  <a:pt x="1219200" y="165100"/>
                </a:lnTo>
                <a:lnTo>
                  <a:pt x="488950" y="711200"/>
                </a:lnTo>
                <a:lnTo>
                  <a:pt x="0" y="0"/>
                </a:lnTo>
                <a:close/>
              </a:path>
            </a:pathLst>
          </a:custGeom>
          <a:noFill/>
          <a:ln w="3175">
            <a:solidFill>
              <a:schemeClr val="accent1">
                <a:lumMod val="20000"/>
                <a:lumOff val="80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>
            <p:custDataLst>
              <p:tags r:id="rId14"/>
            </p:custDataLst>
          </p:nvPr>
        </p:nvSpPr>
        <p:spPr>
          <a:xfrm>
            <a:off x="10718243" y="0"/>
            <a:ext cx="1473122" cy="1361739"/>
          </a:xfrm>
          <a:custGeom>
            <a:avLst/>
            <a:gdLst>
              <a:gd name="connsiteX0" fmla="*/ 0 w 3276599"/>
              <a:gd name="connsiteY0" fmla="*/ 0 h 3028696"/>
              <a:gd name="connsiteX1" fmla="*/ 945683 w 3276599"/>
              <a:gd name="connsiteY1" fmla="*/ 0 h 3028696"/>
              <a:gd name="connsiteX2" fmla="*/ 948498 w 3276599"/>
              <a:gd name="connsiteY2" fmla="*/ 108002 h 3028696"/>
              <a:gd name="connsiteX3" fmla="*/ 3166700 w 3276599"/>
              <a:gd name="connsiteY3" fmla="*/ 2260336 h 3028696"/>
              <a:gd name="connsiteX4" fmla="*/ 3276599 w 3276599"/>
              <a:gd name="connsiteY4" fmla="*/ 2263032 h 3028696"/>
              <a:gd name="connsiteX5" fmla="*/ 3276599 w 3276599"/>
              <a:gd name="connsiteY5" fmla="*/ 3028696 h 3028696"/>
              <a:gd name="connsiteX6" fmla="*/ 3122111 w 3276599"/>
              <a:gd name="connsiteY6" fmla="*/ 3025087 h 3028696"/>
              <a:gd name="connsiteX7" fmla="*/ 3956 w 3276599"/>
              <a:gd name="connsiteY7" fmla="*/ 144544 h 302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6599" h="3028696">
                <a:moveTo>
                  <a:pt x="0" y="0"/>
                </a:moveTo>
                <a:lnTo>
                  <a:pt x="945683" y="0"/>
                </a:lnTo>
                <a:lnTo>
                  <a:pt x="948498" y="108002"/>
                </a:lnTo>
                <a:cubicBezTo>
                  <a:pt x="1009194" y="1269845"/>
                  <a:pt x="1969300" y="2201442"/>
                  <a:pt x="3166700" y="2260336"/>
                </a:cubicBezTo>
                <a:lnTo>
                  <a:pt x="3276599" y="2263032"/>
                </a:lnTo>
                <a:lnTo>
                  <a:pt x="3276599" y="3028696"/>
                </a:lnTo>
                <a:lnTo>
                  <a:pt x="3122111" y="3025087"/>
                </a:lnTo>
                <a:cubicBezTo>
                  <a:pt x="1438911" y="2946268"/>
                  <a:pt x="89278" y="1699479"/>
                  <a:pt x="3956" y="14454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2" name="椭圆 21"/>
          <p:cNvSpPr/>
          <p:nvPr>
            <p:custDataLst>
              <p:tags r:id="rId15"/>
            </p:custDataLst>
          </p:nvPr>
        </p:nvSpPr>
        <p:spPr>
          <a:xfrm>
            <a:off x="11237900" y="423882"/>
            <a:ext cx="532184" cy="53221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85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90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椭圆 22"/>
          <p:cNvSpPr/>
          <p:nvPr>
            <p:custDataLst>
              <p:tags r:id="rId16"/>
            </p:custDataLst>
          </p:nvPr>
        </p:nvSpPr>
        <p:spPr>
          <a:xfrm>
            <a:off x="10321186" y="357339"/>
            <a:ext cx="222126" cy="222138"/>
          </a:xfrm>
          <a:prstGeom prst="ellipse">
            <a:avLst/>
          </a:prstGeom>
          <a:gradFill flip="none" rotWithShape="1">
            <a:gsLst>
              <a:gs pos="76000">
                <a:schemeClr val="accent1"/>
              </a:gs>
              <a:gs pos="12000">
                <a:schemeClr val="accent1">
                  <a:lumMod val="20000"/>
                  <a:lumOff val="80000"/>
                </a:schemeClr>
              </a:gs>
              <a:gs pos="40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27000" dist="1270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7"/>
            </p:custDataLst>
          </p:nvPr>
        </p:nvSpPr>
        <p:spPr>
          <a:xfrm>
            <a:off x="10856032" y="1110794"/>
            <a:ext cx="130026" cy="130033"/>
          </a:xfrm>
          <a:prstGeom prst="ellipse">
            <a:avLst/>
          </a:prstGeom>
          <a:gradFill flip="none" rotWithShape="1">
            <a:gsLst>
              <a:gs pos="13000">
                <a:schemeClr val="accent1">
                  <a:lumMod val="20000"/>
                  <a:lumOff val="80000"/>
                </a:schemeClr>
              </a:gs>
              <a:gs pos="75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93000">
                <a:schemeClr val="accent3"/>
              </a:gs>
              <a:gs pos="52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p>
            <a:pPr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</a:rPr>
              <a:t>STARCLAW</a:t>
            </a:r>
            <a:br>
              <a:rPr lang="en-US" altLang="zh-CN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</a:rPr>
            </a:br>
            <a:r>
              <a:rPr sz="489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</a:rPr>
              <a:t>星爪智能体</a:t>
            </a:r>
            <a:r>
              <a:rPr lang="en-US" altLang="zh-CN" sz="489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0"/>
                </a:gradFill>
              </a:rPr>
              <a:t>-AI AGNT</a:t>
            </a:r>
            <a:endParaRPr lang="en-US" altLang="zh-CN" sz="489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0"/>
              </a:gradFill>
            </a:endParaRPr>
          </a:p>
        </p:txBody>
      </p:sp>
      <p:sp>
        <p:nvSpPr>
          <p:cNvPr id="9" name="公司名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/>
              <a:t>浙江银河天启科技有限</a:t>
            </a:r>
            <a:r>
              <a:rPr lang="zh-CN" altLang="en-US"/>
              <a:t>公司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68053" y="4481261"/>
            <a:ext cx="2879850" cy="50397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/>
                </a:solidFill>
              </a:rPr>
              <a:t>汇报人：银河</a:t>
            </a:r>
            <a:r>
              <a:rPr lang="zh-CN" altLang="en-US">
                <a:solidFill>
                  <a:schemeClr val="tx1"/>
                </a:solidFill>
              </a:rPr>
              <a:t>天启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🔓 你的员工已经在偷偷用 ChatGPT 了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💸 各部门各自开通 AI 订阅，成本失控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🔍 不知道谁在用什么模型做什么事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🔒 《数据安全法》对数据出境有严格要求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企业不缺 AI 能力，缺的是管得住、看得清、算得明的 AI 智能体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市场痛点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🦞 Claw — AI 原生工作站（开源免费）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 20+ 模型 | 智能体 | 知识库 | MCP 工具 | 跨平台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👁️ Overlord — 企业 AI 管控平台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 私有部署 | 团队隔离 | 配额管控 | 用量审计 | SSO | 白牌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⛽ StarAI — AI 算力网关（star-ai.net）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 20+ 模型统一接口 | 智能路由 | 按量计费 | BYOK 零消耗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产品矩阵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StarClaw vs OpenClaw</a:t>
            </a:r>
            <a:endParaRPr lang="zh-CN" altLang="en-US" dirty="0"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OpenClaw = 个人 AI 助手（单机自托管）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StarClaw = 企业 AI 管控平台（SaaS + 私有部署 + 混合云）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OpenClaw 没有：团队管理 / 用量审计 / 多租户 / 企业合规 / 白牌定制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StarClaw 全有：✅ 团队隔离 + RBAC + SSO + 审计日志 + 合规面板 + 白牌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OpenClaw 解决「怎么用 AI」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StarClaw 解决「怎么管 AI」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竞品全景对比</a:t>
            </a:r>
            <a:endParaRPr lang="zh-CN" altLang="en-US" dirty="0"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Dify — 开源应用开发平台，企业管控弱，无白牌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飞书 AI — ¥30/人/月，闭源，不能私有部署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百度千帆 — ¥10,000+/年，闭源，绑定百度云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Coze(扣子) — ¥99/月，闭源，无企业管控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StarClaw = 唯一同时满足：开源 + 私有部署 + 企业管控 + 白牌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价格：免费 → ¥4,790/年（Starter）→ ¥19,190/年（Pro）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产品价格</a:t>
            </a:r>
            <a:endParaRPr lang="zh-CN" altLang="en-US" dirty="0"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Community    免费        ≤10节点   1团队     小团队体验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Starter      ¥4,790/年   ≤20节点   3团队     初创公司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Pro          ¥19,190/年  ≤100节点  不限团队   中型企业 ⭐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Enterprise   ¥47,990/年  ≤500节点  不限团队   大型企业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White-Label  面议         不限       品牌定制   IT服务商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所有版本支持私有部署 | BYOK 模式星能消耗 = ¥0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🏢 中型企业（200人）→ StarClaw Pro ¥19,190/年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研发用 DeepSeek-Coder / 市场用 GPT-4o / HR 用 Qwen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对比飞书AI ¥36,000/年，便宜47%且可私有部署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🏗️ IT服务商 → StarClaw White-Label ¥0起步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换 Logo 变自有品牌 AI 产品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   给客户收费，赚差价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客户场景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🏗️ 虫群架构 — Queen → Overlord → Claw 三级管理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🌐 P2P 分布式 — 节点间直连，去中心化高可用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🔐 Ed25519 身份 — 每个节点都有不可伪造的加密身份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🔌 MCP 协议 — 智能体可调用外部工具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🤖 20+ 模型 — GPT-4o / Claude / Gemini / DeepSeek / Qwen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📖 开源核心 — 可审计，无供应商锁定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技术亮点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联系我们</a:t>
            </a:r>
            <a:endParaRPr lang="zh-CN" altLang="en-US" dirty="0"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浙江银河天启科技有限公司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🌐 官网：starclaw.me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⛽ AI 算力：star-ai.net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📦 GitHub：github.com/yinhe/starclaw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📧 商务合作：business@starclaw.me</a:t>
            </a: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endParaRPr>
              <a:solidFill>
                <a:schemeClr val="tx1"/>
              </a:solidFill>
              <a:latin typeface="+mn-lt"/>
            </a:endParaRPr>
          </a:p>
          <a:p>
            <a:pPr>
              <a:spcAft>
                <a:spcPts val="800"/>
              </a:spcAft>
              <a:defRPr sz="1800"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StarClaw — 开源 · 私有 · 可管控的企业 AI 智能体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3;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7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8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59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60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6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7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19"/>
</p:tagLst>
</file>

<file path=ppt/tags/tag1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19"/>
</p:tagLst>
</file>

<file path=ppt/tags/tag11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19"/>
  <p:tag name="KSO_WM_TEMPLATE_CATEGORY" val="custom"/>
  <p:tag name="KSO_WM_TEMPLATE_MASTER_TYPE" val="0"/>
  <p:tag name="KSO_WM_TEMPLATE_COLORSEQUENCE" val="1,2,3,1,2,3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&#13;添加文档标题内容"/>
  <p:tag name="KSO_WM_UNIT_ID" val="custom20235919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ISCONTENTSTITLE" val="0"/>
  <p:tag name="KSO_WM_UNIT_TEXT_TYPE" val="1"/>
</p:tagLst>
</file>

<file path=ppt/tags/tag11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5919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VALUE" val="11"/>
</p:tagLst>
</file>

<file path=ppt/tags/tag11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919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19"/>
  <p:tag name="KSO_WM_TEMPLATE_CATEGORY" val="custom"/>
  <p:tag name="KSO_WM_UNIT_VALUE" val="11"/>
</p:tagLst>
</file>

<file path=ppt/tags/tag114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919"/>
  <p:tag name="KSO_WM_TEMPLATE_CATEGORY" val="custom"/>
  <p:tag name="KSO_WM_SLIDE_INDEX" val="1"/>
  <p:tag name="KSO_WM_SLIDE_ID" val="custom20235919_1"/>
  <p:tag name="KSO_WM_TEMPLATE_MASTER_TYPE" val="0"/>
  <p:tag name="KSO_WM_SLIDE_LAYOUT" val="a_f"/>
  <p:tag name="KSO_WM_SLIDE_LAYOUT_CNT" val="1_2"/>
  <p:tag name="KSO_WM_TEMPLATE_COLORSEQUENCE" val="1,2,3,1,2,3"/>
  <p:tag name="KSO_WM_SLIDE_THEME_ID" val="3327404"/>
  <p:tag name="KSO_WM_SLIDE_THEME_NAME" val="职场办公简约风主题"/>
</p:tagLst>
</file>

<file path=ppt/tags/tag11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1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TEXT" val="市场痛点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25.xml><?xml version="1.0" encoding="utf-8"?>
<p:tagLst xmlns:p="http://schemas.openxmlformats.org/presentationml/2006/main">
  <p:tag name="KSO_WM_UNIT_TEXT" val="StarClaw vs OpenClaw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29.xml><?xml version="1.0" encoding="utf-8"?>
<p:tagLst xmlns:p="http://schemas.openxmlformats.org/presentationml/2006/main">
  <p:tag name="KSO_WM_UNIT_TEXT" val="竞品全景对比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3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UNIT_TEXT" val="产品矩阵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3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TEXT" val="客户场景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ags/tag139.xml><?xml version="1.0" encoding="utf-8"?>
<p:tagLst xmlns:p="http://schemas.openxmlformats.org/presentationml/2006/main">
  <p:tag name="KSO_WM_UNIT_TEXT" val="产品价格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5919"/>
  <p:tag name="KSO_WM_TEMPLATE_CATEGORY" val="custom"/>
  <p:tag name="KSO_WM_SLIDE_INDEX" val="8"/>
  <p:tag name="KSO_WM_SLIDE_ID" val="custom20235919_8"/>
  <p:tag name="KSO_WM_TEMPLATE_MASTER_TYPE" val="0"/>
  <p:tag name="KSO_WM_SLIDE_LAYOUT" val="a_f"/>
  <p:tag name="KSO_WM_SLIDE_LAYOUT_CNT" val="1_1"/>
  <p:tag name="KSO_WM_SLIDE_SIZE" val="850*457"/>
  <p:tag name="KSO_WM_SLIDE_POSITION" val="54*28"/>
  <p:tag name="KSO_WM_TEMPLATE_COLORSEQUENCE" val="1,2,3,1,2,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职场办公简约风主题">
  <a:themeElements>
    <a:clrScheme name="2024.3.8【NO.09】-几何简约风主题模板">
      <a:dk1>
        <a:srgbClr val="333333"/>
      </a:dk1>
      <a:lt1>
        <a:sysClr val="window" lastClr="FFFFFF"/>
      </a:lt1>
      <a:dk2>
        <a:srgbClr val="001A3A"/>
      </a:dk2>
      <a:lt2>
        <a:srgbClr val="F7FAFF"/>
      </a:lt2>
      <a:accent1>
        <a:srgbClr val="016EFF"/>
      </a:accent1>
      <a:accent2>
        <a:srgbClr val="624AF0"/>
      </a:accent2>
      <a:accent3>
        <a:srgbClr val="9618F4"/>
      </a:accent3>
      <a:accent4>
        <a:srgbClr val="F7219B"/>
      </a:accent4>
      <a:accent5>
        <a:srgbClr val="F02836"/>
      </a:accent5>
      <a:accent6>
        <a:srgbClr val="EE672A"/>
      </a:accent6>
      <a:hlink>
        <a:srgbClr val="0026E5"/>
      </a:hlink>
      <a:folHlink>
        <a:srgbClr val="7E1FAD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93000">
              <a:schemeClr val="accent3"/>
            </a:gs>
            <a:gs pos="52000">
              <a:schemeClr val="accent1"/>
            </a:gs>
          </a:gsLst>
          <a:path path="circle">
            <a:fillToRect r="100000" b="100000"/>
          </a:path>
          <a:tileRect l="-100000" t="-100000"/>
        </a:gra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buClrTx/>
          <a:buSzTx/>
          <a:buFontTx/>
          <a:defRPr>
            <a:solidFill>
              <a:schemeClr val="lt1"/>
            </a:solidFill>
            <a:sym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0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1551</Words>
  <Application>WPS 演示</Application>
  <PresentationFormat>On-screen Show (4:3)</PresentationFormat>
  <Paragraphs>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Wingdings</vt:lpstr>
      <vt:lpstr>江城圆体 400W</vt:lpstr>
      <vt:lpstr>Office Theme</vt:lpstr>
      <vt:lpstr>蓝色职场办公简约风主题</vt:lpstr>
      <vt:lpstr>添加文档标题内容</vt:lpstr>
      <vt:lpstr>市场痛点</vt:lpstr>
      <vt:lpstr>产品矩阵</vt:lpstr>
      <vt:lpstr>StarClaw vs OpenClaw</vt:lpstr>
      <vt:lpstr>竞品全景对比</vt:lpstr>
      <vt:lpstr>产品价格</vt:lpstr>
      <vt:lpstr>客户场景</vt:lpstr>
      <vt:lpstr>技术亮点</vt:lpstr>
      <vt:lpstr>联系我们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银河王子</cp:lastModifiedBy>
  <cp:revision>3</cp:revision>
  <dcterms:created xsi:type="dcterms:W3CDTF">2013-01-27T09:14:00Z</dcterms:created>
  <dcterms:modified xsi:type="dcterms:W3CDTF">2026-04-01T11:22:03Z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FA5964C29ED84AD8A1ABF504362F1F18_12</vt:lpwstr>
  </property>
  <property fmtid="{D5CDD505-2E9C-101B-9397-08002B2CF9AE}" pid="3" name="KSOProductBuildVer">
    <vt:lpwstr>2052-12.1.0.23542</vt:lpwstr>
  </property>
</Properties>
</file>